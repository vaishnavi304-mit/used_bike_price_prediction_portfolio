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6" d="100"/>
          <a:sy n="76" d="100"/>
        </p:scale>
        <p:origin x="-504" y="-1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3357D7-B5F1-4DF5-BEFE-046743F31C86}" type="datetimeFigureOut">
              <a:rPr lang="en-IN" smtClean="0"/>
              <a:t>29-11-2025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9BD196-B773-4FC7-A664-13B18501ECE1}" type="slidenum">
              <a:rPr lang="en-IN" smtClean="0"/>
              <a:t>‹#›</a:t>
            </a:fld>
            <a:endParaRPr lang="en-IN"/>
          </a:p>
        </p:txBody>
      </p:sp>
    </p:spTree>
    <p:extLst>
      <p:ext uri="{BB962C8B-B14F-4D97-AF65-F5344CB8AC3E}">
        <p14:creationId xmlns:p14="http://schemas.microsoft.com/office/powerpoint/2010/main" val="25640100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39BD196-B773-4FC7-A664-13B18501ECE1}" type="slidenum">
              <a:rPr lang="en-IN" smtClean="0"/>
              <a:t>3</a:t>
            </a:fld>
            <a:endParaRPr lang="en-IN"/>
          </a:p>
        </p:txBody>
      </p:sp>
    </p:spTree>
    <p:extLst>
      <p:ext uri="{BB962C8B-B14F-4D97-AF65-F5344CB8AC3E}">
        <p14:creationId xmlns:p14="http://schemas.microsoft.com/office/powerpoint/2010/main" val="2852401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39BD196-B773-4FC7-A664-13B18501ECE1}" type="slidenum">
              <a:rPr lang="en-IN" smtClean="0"/>
              <a:t>5</a:t>
            </a:fld>
            <a:endParaRPr lang="en-IN"/>
          </a:p>
        </p:txBody>
      </p:sp>
    </p:spTree>
    <p:extLst>
      <p:ext uri="{BB962C8B-B14F-4D97-AF65-F5344CB8AC3E}">
        <p14:creationId xmlns:p14="http://schemas.microsoft.com/office/powerpoint/2010/main" val="29407258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347200" y="152399"/>
            <a:ext cx="2641600" cy="65562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03200" y="153923"/>
            <a:ext cx="8940800" cy="6553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9347200" y="2052960"/>
            <a:ext cx="2641600" cy="1828800"/>
          </a:xfrm>
        </p:spPr>
        <p:txBody>
          <a:bodyPr anchor="ctr">
            <a:normAutofit/>
          </a:bodyPr>
          <a:lstStyle>
            <a:lvl1pPr marL="0" indent="0" algn="l">
              <a:buNone/>
              <a:defRPr sz="19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0" name="Date Placeholder 9"/>
          <p:cNvSpPr>
            <a:spLocks noGrp="1"/>
          </p:cNvSpPr>
          <p:nvPr>
            <p:ph type="dt" sz="half" idx="10"/>
          </p:nvPr>
        </p:nvSpPr>
        <p:spPr/>
        <p:txBody>
          <a:bodyPr/>
          <a:lstStyle>
            <a:lvl1pPr>
              <a:defRPr>
                <a:solidFill>
                  <a:schemeClr val="bg2"/>
                </a:solidFill>
              </a:defRPr>
            </a:lvl1pPr>
          </a:lstStyle>
          <a:p>
            <a:fld id="{4018417F-DEF4-4B37-AB56-2C1AAFF87620}" type="datetimeFigureOut">
              <a:rPr lang="en-IN" smtClean="0"/>
              <a:t>29-11-2025</a:t>
            </a:fld>
            <a:endParaRPr lang="en-IN"/>
          </a:p>
        </p:txBody>
      </p:sp>
      <p:sp>
        <p:nvSpPr>
          <p:cNvPr id="11" name="Slide Number Placeholder 10"/>
          <p:cNvSpPr>
            <a:spLocks noGrp="1"/>
          </p:cNvSpPr>
          <p:nvPr>
            <p:ph type="sldNum" sz="quarter" idx="11"/>
          </p:nvPr>
        </p:nvSpPr>
        <p:spPr/>
        <p:txBody>
          <a:bodyPr/>
          <a:lstStyle>
            <a:lvl1pPr>
              <a:defRPr>
                <a:solidFill>
                  <a:srgbClr val="FFFFFF"/>
                </a:solidFill>
              </a:defRPr>
            </a:lvl1pPr>
          </a:lstStyle>
          <a:p>
            <a:fld id="{6E6AE19D-6059-4C07-BCAE-989838EE3588}" type="slidenum">
              <a:rPr lang="en-IN" smtClean="0"/>
              <a:t>‹#›</a:t>
            </a:fld>
            <a:endParaRPr lang="en-IN"/>
          </a:p>
        </p:txBody>
      </p:sp>
      <p:sp>
        <p:nvSpPr>
          <p:cNvPr id="12" name="Footer Placeholder 11"/>
          <p:cNvSpPr>
            <a:spLocks noGrp="1"/>
          </p:cNvSpPr>
          <p:nvPr>
            <p:ph type="ftr" sz="quarter" idx="12"/>
          </p:nvPr>
        </p:nvSpPr>
        <p:spPr/>
        <p:txBody>
          <a:bodyPr/>
          <a:lstStyle>
            <a:lvl1pPr>
              <a:defRPr>
                <a:solidFill>
                  <a:schemeClr val="bg2"/>
                </a:solidFill>
              </a:defRPr>
            </a:lvl1pPr>
          </a:lstStyle>
          <a:p>
            <a:endParaRPr lang="en-IN"/>
          </a:p>
        </p:txBody>
      </p:sp>
      <p:sp>
        <p:nvSpPr>
          <p:cNvPr id="13" name="Title 12"/>
          <p:cNvSpPr>
            <a:spLocks noGrp="1"/>
          </p:cNvSpPr>
          <p:nvPr>
            <p:ph type="title"/>
          </p:nvPr>
        </p:nvSpPr>
        <p:spPr>
          <a:xfrm>
            <a:off x="609600" y="2052960"/>
            <a:ext cx="8432800" cy="1828800"/>
          </a:xfrm>
        </p:spPr>
        <p:txBody>
          <a:bodyPr/>
          <a:lstStyle>
            <a:lvl1pPr algn="r">
              <a:defRPr sz="4200" spc="150" baseline="0"/>
            </a:lvl1pPr>
          </a:lstStyle>
          <a:p>
            <a:r>
              <a:rPr lang="en-US" smtClean="0"/>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18417F-DEF4-4B37-AB56-2C1AAFF87620}" type="datetimeFigureOut">
              <a:rPr lang="en-IN" smtClean="0"/>
              <a:t>29-11-2025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E6AE19D-6059-4C07-BCAE-989838EE3588}" type="slidenum">
              <a:rPr lang="en-IN" smtClean="0"/>
              <a:t>‹#›</a:t>
            </a:fld>
            <a:endParaRPr lang="en-IN"/>
          </a:p>
        </p:txBody>
      </p:sp>
      <p:sp>
        <p:nvSpPr>
          <p:cNvPr id="7" name="Title 6"/>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9347200" y="152399"/>
            <a:ext cx="2641600" cy="6556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03200" y="153923"/>
            <a:ext cx="8940800" cy="6553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9550400" y="2892277"/>
            <a:ext cx="2133601" cy="1645920"/>
          </a:xfrm>
        </p:spPr>
        <p:txBody>
          <a:bodyPr anchor="ctr"/>
          <a:lstStyle>
            <a:lvl1pPr marL="0" indent="0">
              <a:buNone/>
              <a:defRPr sz="200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9" name="Date Placeholder 8"/>
          <p:cNvSpPr>
            <a:spLocks noGrp="1"/>
          </p:cNvSpPr>
          <p:nvPr>
            <p:ph type="dt" sz="half" idx="10"/>
          </p:nvPr>
        </p:nvSpPr>
        <p:spPr/>
        <p:txBody>
          <a:bodyPr/>
          <a:lstStyle>
            <a:lvl1pPr>
              <a:defRPr>
                <a:solidFill>
                  <a:srgbClr val="FFFFFF"/>
                </a:solidFill>
              </a:defRPr>
            </a:lvl1pPr>
          </a:lstStyle>
          <a:p>
            <a:fld id="{4018417F-DEF4-4B37-AB56-2C1AAFF87620}" type="datetimeFigureOut">
              <a:rPr lang="en-IN" smtClean="0"/>
              <a:t>29-11-2025</a:t>
            </a:fld>
            <a:endParaRPr lang="en-IN"/>
          </a:p>
        </p:txBody>
      </p:sp>
      <p:sp>
        <p:nvSpPr>
          <p:cNvPr id="10" name="Slide Number Placeholder 9"/>
          <p:cNvSpPr>
            <a:spLocks noGrp="1"/>
          </p:cNvSpPr>
          <p:nvPr>
            <p:ph type="sldNum" sz="quarter" idx="11"/>
          </p:nvPr>
        </p:nvSpPr>
        <p:spPr/>
        <p:txBody>
          <a:bodyPr/>
          <a:lstStyle>
            <a:lvl1pPr>
              <a:defRPr>
                <a:solidFill>
                  <a:schemeClr val="bg2"/>
                </a:solidFill>
              </a:defRPr>
            </a:lvl1pPr>
          </a:lstStyle>
          <a:p>
            <a:fld id="{6E6AE19D-6059-4C07-BCAE-989838EE3588}" type="slidenum">
              <a:rPr lang="en-IN" smtClean="0"/>
              <a:t>‹#›</a:t>
            </a:fld>
            <a:endParaRPr lang="en-IN"/>
          </a:p>
        </p:txBody>
      </p:sp>
      <p:sp>
        <p:nvSpPr>
          <p:cNvPr id="11" name="Footer Placeholder 10"/>
          <p:cNvSpPr>
            <a:spLocks noGrp="1"/>
          </p:cNvSpPr>
          <p:nvPr>
            <p:ph type="ftr" sz="quarter" idx="12"/>
          </p:nvPr>
        </p:nvSpPr>
        <p:spPr/>
        <p:txBody>
          <a:bodyPr/>
          <a:lstStyle>
            <a:lvl1pPr>
              <a:defRPr>
                <a:solidFill>
                  <a:srgbClr val="FFFFFF"/>
                </a:solidFill>
              </a:defRPr>
            </a:lvl1pPr>
          </a:lstStyle>
          <a:p>
            <a:endParaRPr lang="en-IN"/>
          </a:p>
        </p:txBody>
      </p:sp>
      <p:sp>
        <p:nvSpPr>
          <p:cNvPr id="12" name="Title 11"/>
          <p:cNvSpPr>
            <a:spLocks noGrp="1"/>
          </p:cNvSpPr>
          <p:nvPr>
            <p:ph type="title"/>
          </p:nvPr>
        </p:nvSpPr>
        <p:spPr>
          <a:xfrm>
            <a:off x="508000" y="2892277"/>
            <a:ext cx="8432800" cy="1645920"/>
          </a:xfrm>
        </p:spPr>
        <p:txBody>
          <a:bodyPr/>
          <a:lstStyle>
            <a:lvl1pPr algn="r">
              <a:defRPr sz="4200" spc="150" baseline="0"/>
            </a:lvl1pPr>
          </a:lstStyle>
          <a:p>
            <a:r>
              <a:rPr lang="en-US" smtClean="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719072"/>
            <a:ext cx="53848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97600" y="1719072"/>
            <a:ext cx="53848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018417F-DEF4-4B37-AB56-2C1AAFF87620}" type="datetimeFigureOut">
              <a:rPr lang="en-IN" smtClean="0"/>
              <a:t>29-11-2025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E6AE19D-6059-4C07-BCAE-989838EE3588}" type="slidenum">
              <a:rPr lang="en-IN" smtClean="0"/>
              <a:t>‹#›</a:t>
            </a:fld>
            <a:endParaRPr lang="en-IN"/>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722438"/>
            <a:ext cx="5386917"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438400"/>
            <a:ext cx="5386917"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93368" y="1722438"/>
            <a:ext cx="5389033"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438400"/>
            <a:ext cx="5389033"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018417F-DEF4-4B37-AB56-2C1AAFF87620}" type="datetimeFigureOut">
              <a:rPr lang="en-IN" smtClean="0"/>
              <a:t>29-11-2025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E6AE19D-6059-4C07-BCAE-989838EE3588}" type="slidenum">
              <a:rPr lang="en-IN" smtClean="0"/>
              <a:t>‹#›</a:t>
            </a:fld>
            <a:endParaRPr lang="en-IN"/>
          </a:p>
        </p:txBody>
      </p:sp>
      <p:sp>
        <p:nvSpPr>
          <p:cNvPr id="10" name="Title 9"/>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4018417F-DEF4-4B37-AB56-2C1AAFF87620}" type="datetimeFigureOut">
              <a:rPr lang="en-IN" smtClean="0"/>
              <a:t>29-11-2025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E6AE19D-6059-4C07-BCAE-989838EE3588}" type="slidenum">
              <a:rPr lang="en-IN" smtClean="0"/>
              <a:t>‹#›</a:t>
            </a:fld>
            <a:endParaRPr lang="en-IN"/>
          </a:p>
        </p:txBody>
      </p:sp>
      <p:sp>
        <p:nvSpPr>
          <p:cNvPr id="6" name="Title 5"/>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03200" y="150919"/>
            <a:ext cx="11775736" cy="6556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fld id="{4018417F-DEF4-4B37-AB56-2C1AAFF87620}" type="datetimeFigureOut">
              <a:rPr lang="en-IN" smtClean="0"/>
              <a:t>29-11-2025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E6AE19D-6059-4C07-BCAE-989838EE3588}"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2"/>
      </p:bgRef>
    </p:bg>
    <p:spTree>
      <p:nvGrpSpPr>
        <p:cNvPr id="1" name=""/>
        <p:cNvGrpSpPr/>
        <p:nvPr/>
      </p:nvGrpSpPr>
      <p:grpSpPr>
        <a:xfrm>
          <a:off x="0" y="0"/>
          <a:ext cx="0" cy="0"/>
          <a:chOff x="0" y="0"/>
          <a:chExt cx="0" cy="0"/>
        </a:xfrm>
      </p:grpSpPr>
      <p:sp>
        <p:nvSpPr>
          <p:cNvPr id="10" name="Rectangle 9"/>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347200" y="150876"/>
            <a:ext cx="2641600" cy="65562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p:cNvSpPr/>
          <p:nvPr/>
        </p:nvSpPr>
        <p:spPr>
          <a:xfrm>
            <a:off x="203200" y="152400"/>
            <a:ext cx="8940800" cy="6553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12800" y="304801"/>
            <a:ext cx="7823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9546336" y="2130552"/>
            <a:ext cx="2231136" cy="2816352"/>
          </a:xfrm>
        </p:spPr>
        <p:txBody>
          <a:bodyPr tIns="0"/>
          <a:lstStyle>
            <a:lvl1pPr marL="0" indent="0">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18417F-DEF4-4B37-AB56-2C1AAFF87620}" type="datetimeFigureOut">
              <a:rPr lang="en-IN" smtClean="0"/>
              <a:t>29-11-2025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ln>
            <a:noFill/>
          </a:ln>
        </p:spPr>
        <p:txBody>
          <a:bodyPr/>
          <a:lstStyle>
            <a:lvl1pPr>
              <a:defRPr>
                <a:solidFill>
                  <a:srgbClr val="FFFFFF"/>
                </a:solidFill>
              </a:defRPr>
            </a:lvl1pPr>
          </a:lstStyle>
          <a:p>
            <a:fld id="{6E6AE19D-6059-4C07-BCAE-989838EE3588}" type="slidenum">
              <a:rPr lang="en-IN" smtClean="0"/>
              <a:t>‹#›</a:t>
            </a:fld>
            <a:endParaRPr lang="en-IN"/>
          </a:p>
        </p:txBody>
      </p:sp>
      <p:sp>
        <p:nvSpPr>
          <p:cNvPr id="11" name="Title 10"/>
          <p:cNvSpPr>
            <a:spLocks noGrp="1"/>
          </p:cNvSpPr>
          <p:nvPr>
            <p:ph type="title"/>
          </p:nvPr>
        </p:nvSpPr>
        <p:spPr>
          <a:xfrm>
            <a:off x="9546336" y="457200"/>
            <a:ext cx="2234213" cy="1673352"/>
          </a:xfrm>
        </p:spPr>
        <p:txBody>
          <a:bodyPr anchor="b"/>
          <a:lstStyle>
            <a:lvl1pPr algn="l">
              <a:defRPr sz="2000" spc="150" baseline="0"/>
            </a:lvl1pPr>
          </a:lstStyle>
          <a:p>
            <a:r>
              <a:rPr lang="en-US" smtClean="0"/>
              <a:t>Click to edit Master title style</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p:cNvSpPr/>
          <p:nvPr/>
        </p:nvSpPr>
        <p:spPr>
          <a:xfrm>
            <a:off x="9347200" y="150876"/>
            <a:ext cx="2641600" cy="65562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203200" y="152400"/>
            <a:ext cx="8940800" cy="6553200"/>
          </a:xfrm>
        </p:spPr>
        <p:txBody>
          <a:bodyPr anchor="ct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550400" y="2133600"/>
            <a:ext cx="2235200" cy="2971800"/>
          </a:xfrm>
        </p:spPr>
        <p:txBody>
          <a:bodyPr tIns="0"/>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18417F-DEF4-4B37-AB56-2C1AAFF87620}" type="datetimeFigureOut">
              <a:rPr lang="en-IN" smtClean="0"/>
              <a:t>29-11-2025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E6AE19D-6059-4C07-BCAE-989838EE3588}" type="slidenum">
              <a:rPr lang="en-IN" smtClean="0"/>
              <a:t>‹#›</a:t>
            </a:fld>
            <a:endParaRPr lang="en-IN"/>
          </a:p>
        </p:txBody>
      </p:sp>
      <p:sp>
        <p:nvSpPr>
          <p:cNvPr id="10" name="Title 9"/>
          <p:cNvSpPr>
            <a:spLocks noGrp="1"/>
          </p:cNvSpPr>
          <p:nvPr>
            <p:ph type="title"/>
          </p:nvPr>
        </p:nvSpPr>
        <p:spPr>
          <a:xfrm>
            <a:off x="9550400" y="460248"/>
            <a:ext cx="2235200" cy="1673352"/>
          </a:xfrm>
        </p:spPr>
        <p:txBody>
          <a:bodyPr anchor="b"/>
          <a:lstStyle>
            <a:lvl1pPr algn="l">
              <a:defRPr sz="2000" spc="150" baseline="0">
                <a:solidFill>
                  <a:schemeClr val="tx2"/>
                </a:solidFill>
              </a:defRPr>
            </a:lvl1pPr>
          </a:lstStyle>
          <a:p>
            <a:r>
              <a:rPr lang="en-US" smtClean="0"/>
              <a:t>Click to edit Master title style</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018417F-DEF4-4B37-AB56-2C1AAFF87620}" type="datetimeFigureOut">
              <a:rPr lang="en-IN" smtClean="0"/>
              <a:t>29-11-2025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E6AE19D-6059-4C07-BCAE-989838EE3588}"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03200" y="147319"/>
            <a:ext cx="8940800" cy="6556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347200" y="147319"/>
            <a:ext cx="2608061" cy="6556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9550400" y="274639"/>
            <a:ext cx="22352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18417F-DEF4-4B37-AB56-2C1AAFF87620}" type="datetimeFigureOut">
              <a:rPr lang="en-IN" smtClean="0"/>
              <a:t>29-11-2025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lvl1pPr>
              <a:defRPr>
                <a:solidFill>
                  <a:schemeClr val="bg2"/>
                </a:solidFill>
              </a:defRPr>
            </a:lvl1pPr>
          </a:lstStyle>
          <a:p>
            <a:fld id="{6E6AE19D-6059-4C07-BCAE-989838EE3588}"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203200" y="1634971"/>
            <a:ext cx="11775736" cy="504547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03199" y="152401"/>
            <a:ext cx="11752063" cy="13464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508000" y="355847"/>
            <a:ext cx="11175013" cy="105439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507999" y="1719071"/>
            <a:ext cx="11210524" cy="440740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94517" y="6356350"/>
            <a:ext cx="2844800" cy="274320"/>
          </a:xfrm>
          <a:prstGeom prst="rect">
            <a:avLst/>
          </a:prstGeom>
        </p:spPr>
        <p:txBody>
          <a:bodyPr vert="horz" lIns="91440" tIns="45720" rIns="91440" bIns="45720" rtlCol="0" anchor="ctr"/>
          <a:lstStyle>
            <a:lvl1pPr algn="l">
              <a:defRPr sz="1100">
                <a:solidFill>
                  <a:schemeClr val="tx2"/>
                </a:solidFill>
              </a:defRPr>
            </a:lvl1pPr>
          </a:lstStyle>
          <a:p>
            <a:fld id="{4018417F-DEF4-4B37-AB56-2C1AAFF87620}" type="datetimeFigureOut">
              <a:rPr lang="en-IN" smtClean="0"/>
              <a:t>29-11-2025</a:t>
            </a:fld>
            <a:endParaRPr lang="en-IN"/>
          </a:p>
        </p:txBody>
      </p:sp>
      <p:sp>
        <p:nvSpPr>
          <p:cNvPr id="5" name="Footer Placeholder 4"/>
          <p:cNvSpPr>
            <a:spLocks noGrp="1"/>
          </p:cNvSpPr>
          <p:nvPr>
            <p:ph type="ftr" sz="quarter" idx="3"/>
          </p:nvPr>
        </p:nvSpPr>
        <p:spPr>
          <a:xfrm>
            <a:off x="4064000" y="6356350"/>
            <a:ext cx="4470400" cy="274320"/>
          </a:xfrm>
          <a:prstGeom prst="rect">
            <a:avLst/>
          </a:prstGeom>
        </p:spPr>
        <p:txBody>
          <a:bodyPr vert="horz" lIns="91440" tIns="45720" rIns="91440" bIns="45720" rtlCol="0" anchor="ctr"/>
          <a:lstStyle>
            <a:lvl1pPr algn="ctr">
              <a:defRPr sz="1100">
                <a:solidFill>
                  <a:schemeClr val="tx2"/>
                </a:solidFill>
              </a:defRPr>
            </a:lvl1pPr>
          </a:lstStyle>
          <a:p>
            <a:endParaRPr lang="en-IN"/>
          </a:p>
        </p:txBody>
      </p:sp>
      <p:sp>
        <p:nvSpPr>
          <p:cNvPr id="6" name="Slide Number Placeholder 5"/>
          <p:cNvSpPr>
            <a:spLocks noGrp="1"/>
          </p:cNvSpPr>
          <p:nvPr>
            <p:ph type="sldNum" sz="quarter" idx="4"/>
          </p:nvPr>
        </p:nvSpPr>
        <p:spPr>
          <a:xfrm>
            <a:off x="10979573" y="6355080"/>
            <a:ext cx="777288" cy="274320"/>
          </a:xfrm>
          <a:prstGeom prst="rect">
            <a:avLst/>
          </a:prstGeom>
          <a:ln w="19050">
            <a:noFill/>
          </a:ln>
        </p:spPr>
        <p:txBody>
          <a:bodyPr vert="horz" lIns="91440" tIns="45720" rIns="91440" bIns="45720" rtlCol="0" anchor="ctr"/>
          <a:lstStyle>
            <a:lvl1pPr algn="ctr">
              <a:defRPr sz="1100">
                <a:solidFill>
                  <a:schemeClr val="tx2"/>
                </a:solidFill>
              </a:defRPr>
            </a:lvl1pPr>
          </a:lstStyle>
          <a:p>
            <a:fld id="{6E6AE19D-6059-4C07-BCAE-989838EE3588}"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spcBef>
          <a:spcPct val="0"/>
        </a:spcBef>
        <a:buNone/>
        <a:defRPr sz="3200" kern="1200" cap="all" spc="200" baseline="0">
          <a:ln>
            <a:noFill/>
          </a:ln>
          <a:solidFill>
            <a:schemeClr val="bg1"/>
          </a:solidFill>
          <a:effectLst/>
          <a:latin typeface="+mj-lt"/>
          <a:ea typeface="+mj-ea"/>
          <a:cs typeface="+mj-cs"/>
        </a:defRPr>
      </a:lvl1pPr>
    </p:titleStyle>
    <p:bodyStyle>
      <a:lvl1pPr marL="274320" indent="-228600" algn="l" defTabSz="914400" rtl="0" eaLnBrk="1" latinLnBrk="0" hangingPunct="1">
        <a:spcBef>
          <a:spcPct val="20000"/>
        </a:spcBef>
        <a:buClr>
          <a:schemeClr val="accent1"/>
        </a:buClr>
        <a:buFont typeface="Wingdings 2" pitchFamily="18" charset="2"/>
        <a:buChar char=""/>
        <a:defRPr sz="2000" kern="1200" spc="150" baseline="0">
          <a:solidFill>
            <a:schemeClr val="tx2"/>
          </a:solidFill>
          <a:latin typeface="+mn-lt"/>
          <a:ea typeface="+mn-ea"/>
          <a:cs typeface="+mn-cs"/>
        </a:defRPr>
      </a:lvl1pPr>
      <a:lvl2pPr marL="548640" indent="-182880" algn="l" defTabSz="914400" rtl="0" eaLnBrk="1" latinLnBrk="0" hangingPunct="1">
        <a:spcBef>
          <a:spcPct val="20000"/>
        </a:spcBef>
        <a:buClr>
          <a:schemeClr val="accent2"/>
        </a:buClr>
        <a:buFont typeface="Wingdings" pitchFamily="2" charset="2"/>
        <a:buChar char="§"/>
        <a:defRPr sz="1800" kern="1200" spc="100" baseline="0">
          <a:solidFill>
            <a:schemeClr val="tx2"/>
          </a:solidFill>
          <a:latin typeface="+mn-lt"/>
          <a:ea typeface="+mn-ea"/>
          <a:cs typeface="+mn-cs"/>
        </a:defRPr>
      </a:lvl2pPr>
      <a:lvl3pPr marL="822960" indent="-182880" algn="l" defTabSz="914400" rtl="0" eaLnBrk="1" latinLnBrk="0" hangingPunct="1">
        <a:spcBef>
          <a:spcPct val="20000"/>
        </a:spcBef>
        <a:buClr>
          <a:schemeClr val="accent3"/>
        </a:buClr>
        <a:buFont typeface="Wingdings" pitchFamily="2" charset="2"/>
        <a:buChar char="§"/>
        <a:defRPr sz="1600" kern="1200" spc="100" baseline="0">
          <a:solidFill>
            <a:schemeClr val="tx2"/>
          </a:solidFill>
          <a:latin typeface="+mn-lt"/>
          <a:ea typeface="+mn-ea"/>
          <a:cs typeface="+mn-cs"/>
        </a:defRPr>
      </a:lvl3pPr>
      <a:lvl4pPr marL="1097280" indent="-182880" algn="l" defTabSz="914400" rtl="0" eaLnBrk="1" latinLnBrk="0" hangingPunct="1">
        <a:spcBef>
          <a:spcPct val="20000"/>
        </a:spcBef>
        <a:buClr>
          <a:schemeClr val="accent4"/>
        </a:buClr>
        <a:buFont typeface="Wingdings" pitchFamily="2" charset="2"/>
        <a:buChar char="§"/>
        <a:defRPr sz="1400" kern="1200">
          <a:solidFill>
            <a:schemeClr val="tx2"/>
          </a:solidFill>
          <a:latin typeface="+mn-lt"/>
          <a:ea typeface="+mn-ea"/>
          <a:cs typeface="+mn-cs"/>
        </a:defRPr>
      </a:lvl4pPr>
      <a:lvl5pPr marL="1280160" indent="-182880" algn="l" defTabSz="914400" rtl="0" eaLnBrk="1" latinLnBrk="0" hangingPunct="1">
        <a:spcBef>
          <a:spcPct val="20000"/>
        </a:spcBef>
        <a:buClr>
          <a:schemeClr val="accent6"/>
        </a:buClr>
        <a:buFont typeface="Wingdings" pitchFamily="2" charset="2"/>
        <a:buChar char="§"/>
        <a:defRPr sz="1300" kern="1200" spc="100" baseline="0">
          <a:solidFill>
            <a:schemeClr val="tx2"/>
          </a:solidFill>
          <a:latin typeface="+mn-lt"/>
          <a:ea typeface="+mn-ea"/>
          <a:cs typeface="+mn-cs"/>
        </a:defRPr>
      </a:lvl5pPr>
      <a:lvl6pPr marL="1554480" indent="-182880" algn="l" defTabSz="914400" rtl="0" eaLnBrk="1" latinLnBrk="0" hangingPunct="1">
        <a:spcBef>
          <a:spcPct val="20000"/>
        </a:spcBef>
        <a:buClr>
          <a:schemeClr val="accent1"/>
        </a:buClr>
        <a:buFont typeface="Wingdings" pitchFamily="2" charset="2"/>
        <a:buChar char="§"/>
        <a:defRPr sz="1200" kern="1200">
          <a:solidFill>
            <a:schemeClr val="tx2"/>
          </a:solidFill>
          <a:latin typeface="+mn-lt"/>
          <a:ea typeface="+mn-ea"/>
          <a:cs typeface="+mn-cs"/>
        </a:defRPr>
      </a:lvl6pPr>
      <a:lvl7pPr marL="1828800" indent="-182880" algn="l" defTabSz="914400" rtl="0" eaLnBrk="1" latinLnBrk="0" hangingPunct="1">
        <a:spcBef>
          <a:spcPct val="20000"/>
        </a:spcBef>
        <a:buClr>
          <a:schemeClr val="accent2"/>
        </a:buClr>
        <a:buFont typeface="Wingdings" pitchFamily="2" charset="2"/>
        <a:buChar char="§"/>
        <a:defRPr sz="1200" kern="1200">
          <a:solidFill>
            <a:schemeClr val="tx2"/>
          </a:solidFill>
          <a:latin typeface="+mn-lt"/>
          <a:ea typeface="+mn-ea"/>
          <a:cs typeface="+mn-cs"/>
        </a:defRPr>
      </a:lvl7pPr>
      <a:lvl8pPr marL="2103120" indent="-182880" algn="l" defTabSz="914400" rtl="0" eaLnBrk="1" latinLnBrk="0" hangingPunct="1">
        <a:spcBef>
          <a:spcPct val="20000"/>
        </a:spcBef>
        <a:buClr>
          <a:schemeClr val="accent3"/>
        </a:buClr>
        <a:buFont typeface="Wingdings" pitchFamily="2" charset="2"/>
        <a:buChar char="§"/>
        <a:defRPr sz="1200" kern="1200">
          <a:solidFill>
            <a:schemeClr val="tx2"/>
          </a:solidFill>
          <a:latin typeface="+mn-lt"/>
          <a:ea typeface="+mn-ea"/>
          <a:cs typeface="+mn-cs"/>
        </a:defRPr>
      </a:lvl8pPr>
      <a:lvl9pPr marL="2377440" indent="-182880" algn="l" defTabSz="914400" rtl="0" eaLnBrk="1" latinLnBrk="0" hangingPunct="1">
        <a:spcBef>
          <a:spcPct val="20000"/>
        </a:spcBef>
        <a:buClr>
          <a:schemeClr val="accent5"/>
        </a:buClr>
        <a:buFont typeface="Wingdings" pitchFamily="2" charset="2"/>
        <a:buChar char="§"/>
        <a:defRPr sz="12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928CC9-59CD-8D46-10B6-ECFBFE171A60}"/>
              </a:ext>
            </a:extLst>
          </p:cNvPr>
          <p:cNvSpPr>
            <a:spLocks noGrp="1"/>
          </p:cNvSpPr>
          <p:nvPr>
            <p:ph type="title"/>
          </p:nvPr>
        </p:nvSpPr>
        <p:spPr>
          <a:xfrm>
            <a:off x="-337530" y="1532818"/>
            <a:ext cx="9857312" cy="2387600"/>
          </a:xfrm>
        </p:spPr>
        <p:txBody>
          <a:bodyPr>
            <a:normAutofit/>
          </a:bodyPr>
          <a:lstStyle/>
          <a:p>
            <a:pPr algn="ctr"/>
            <a:r>
              <a:rPr lang="en-US" sz="2400" b="1" dirty="0">
                <a:latin typeface="Times New Roman" pitchFamily="18" charset="0"/>
                <a:cs typeface="Times New Roman" pitchFamily="18" charset="0"/>
              </a:rPr>
              <a:t>230670L:  Introduction to </a:t>
            </a:r>
            <a:r>
              <a:rPr lang="en-US" sz="2400" b="1" dirty="0" smtClean="0">
                <a:latin typeface="Times New Roman" pitchFamily="18" charset="0"/>
                <a:cs typeface="Times New Roman" pitchFamily="18" charset="0"/>
              </a:rPr>
              <a:t>Programming</a:t>
            </a:r>
            <a:br>
              <a:rPr lang="en-US" sz="2400" b="1" dirty="0" smtClean="0">
                <a:latin typeface="Times New Roman" pitchFamily="18" charset="0"/>
                <a:cs typeface="Times New Roman" pitchFamily="18" charset="0"/>
              </a:rPr>
            </a:br>
            <a:r>
              <a:rPr lang="en-US" sz="2400" b="1" dirty="0" smtClean="0">
                <a:latin typeface="Times New Roman" pitchFamily="18" charset="0"/>
                <a:cs typeface="Times New Roman" pitchFamily="18" charset="0"/>
              </a:rPr>
              <a:t>T.Y</a:t>
            </a:r>
            <a:r>
              <a:rPr lang="en-US" sz="2400" b="1" dirty="0">
                <a:latin typeface="Times New Roman" pitchFamily="18" charset="0"/>
                <a:cs typeface="Times New Roman" pitchFamily="18" charset="0"/>
              </a:rPr>
              <a:t>. B TECH </a:t>
            </a:r>
            <a:r>
              <a:rPr lang="en-US" sz="2400" b="1" dirty="0" smtClean="0">
                <a:latin typeface="Times New Roman" pitchFamily="18" charset="0"/>
                <a:cs typeface="Times New Roman" pitchFamily="18" charset="0"/>
              </a:rPr>
              <a:t/>
            </a:r>
            <a:br>
              <a:rPr lang="en-US" sz="2400" b="1" dirty="0" smtClean="0">
                <a:latin typeface="Times New Roman" pitchFamily="18" charset="0"/>
                <a:cs typeface="Times New Roman" pitchFamily="18" charset="0"/>
              </a:rPr>
            </a:br>
            <a:r>
              <a:rPr lang="en-US" sz="2400" b="1" dirty="0" smtClean="0">
                <a:latin typeface="Times New Roman" pitchFamily="18" charset="0"/>
                <a:cs typeface="Times New Roman" pitchFamily="18" charset="0"/>
              </a:rPr>
              <a:t/>
            </a:r>
            <a:br>
              <a:rPr lang="en-US" sz="2400" b="1" dirty="0" smtClean="0">
                <a:latin typeface="Times New Roman" pitchFamily="18" charset="0"/>
                <a:cs typeface="Times New Roman" pitchFamily="18" charset="0"/>
              </a:rPr>
            </a:br>
            <a:r>
              <a:rPr lang="en-US" sz="2400" b="1" dirty="0" smtClean="0">
                <a:latin typeface="Times New Roman" pitchFamily="18" charset="0"/>
                <a:cs typeface="Times New Roman" pitchFamily="18" charset="0"/>
              </a:rPr>
              <a:t>Department </a:t>
            </a:r>
            <a:r>
              <a:rPr lang="en-US" sz="2400" b="1" dirty="0">
                <a:latin typeface="Times New Roman" pitchFamily="18" charset="0"/>
                <a:cs typeface="Times New Roman" pitchFamily="18" charset="0"/>
              </a:rPr>
              <a:t>of E&amp;TC ENGINEERINGS</a:t>
            </a:r>
            <a:r>
              <a:rPr lang="en-US" sz="2400" b="1" dirty="0"/>
              <a:t/>
            </a:r>
            <a:br>
              <a:rPr lang="en-US" sz="2400" b="1" dirty="0"/>
            </a:br>
            <a:endParaRPr lang="en-IN" sz="2400" b="1" dirty="0"/>
          </a:p>
        </p:txBody>
      </p:sp>
      <p:pic>
        <p:nvPicPr>
          <p:cNvPr id="4" name="image1.jpeg">
            <a:extLst>
              <a:ext uri="{FF2B5EF4-FFF2-40B4-BE49-F238E27FC236}">
                <a16:creationId xmlns:a16="http://schemas.microsoft.com/office/drawing/2014/main" xmlns="" id="{6EF12E55-E8DB-97BA-A206-E97881952DF8}"/>
              </a:ext>
            </a:extLst>
          </p:cNvPr>
          <p:cNvPicPr>
            <a:picLocks noChangeAspect="1"/>
          </p:cNvPicPr>
          <p:nvPr/>
        </p:nvPicPr>
        <p:blipFill>
          <a:blip r:embed="rId2" cstate="print"/>
          <a:stretch>
            <a:fillRect/>
          </a:stretch>
        </p:blipFill>
        <p:spPr>
          <a:xfrm>
            <a:off x="3391841" y="139924"/>
            <a:ext cx="4957737" cy="1017342"/>
          </a:xfrm>
          <a:prstGeom prst="rect">
            <a:avLst/>
          </a:prstGeom>
        </p:spPr>
      </p:pic>
      <p:sp>
        <p:nvSpPr>
          <p:cNvPr id="6" name="TextBox 5">
            <a:extLst>
              <a:ext uri="{FF2B5EF4-FFF2-40B4-BE49-F238E27FC236}">
                <a16:creationId xmlns:a16="http://schemas.microsoft.com/office/drawing/2014/main" xmlns="" id="{86B2F1F8-43D5-EC4B-F313-F7602636AC93}"/>
              </a:ext>
            </a:extLst>
          </p:cNvPr>
          <p:cNvSpPr txBox="1"/>
          <p:nvPr/>
        </p:nvSpPr>
        <p:spPr>
          <a:xfrm>
            <a:off x="2623596" y="1157266"/>
            <a:ext cx="6096000" cy="375552"/>
          </a:xfrm>
          <a:prstGeom prst="rect">
            <a:avLst/>
          </a:prstGeom>
          <a:noFill/>
        </p:spPr>
        <p:txBody>
          <a:bodyPr wrap="square">
            <a:spAutoFit/>
          </a:bodyPr>
          <a:lstStyle/>
          <a:p>
            <a:pPr algn="ctr">
              <a:lnSpc>
                <a:spcPct val="107000"/>
              </a:lnSpc>
              <a:spcAft>
                <a:spcPts val="800"/>
              </a:spcAft>
              <a:buNone/>
            </a:pPr>
            <a:r>
              <a:rPr lang="it-IT" sz="1800" b="1" kern="100" dirty="0">
                <a:solidFill>
                  <a:schemeClr val="bg1"/>
                </a:solidFill>
                <a:effectLst/>
                <a:latin typeface="Calibri" panose="020F0502020204030204" pitchFamily="34" charset="0"/>
                <a:cs typeface="Times New Roman" panose="02020603050405020304" pitchFamily="18" charset="0"/>
              </a:rPr>
              <a:t>Alandi (D), Pune – 412105, INDIA</a:t>
            </a:r>
            <a:endParaRPr lang="it-IT" sz="1800" kern="100" dirty="0">
              <a:solidFill>
                <a:schemeClr val="bg1"/>
              </a:solidFill>
              <a:effectLst/>
              <a:latin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xmlns="" id="{03727E58-5993-EE3A-4660-2AD3F3746B69}"/>
              </a:ext>
            </a:extLst>
          </p:cNvPr>
          <p:cNvSpPr txBox="1"/>
          <p:nvPr/>
        </p:nvSpPr>
        <p:spPr>
          <a:xfrm>
            <a:off x="901874" y="3003338"/>
            <a:ext cx="10208712" cy="2492990"/>
          </a:xfrm>
          <a:prstGeom prst="rect">
            <a:avLst/>
          </a:prstGeom>
          <a:noFill/>
        </p:spPr>
        <p:txBody>
          <a:bodyPr wrap="square">
            <a:spAutoFit/>
          </a:bodyPr>
          <a:lstStyle/>
          <a:p>
            <a:r>
              <a:rPr lang="en-US" sz="3200" b="1" dirty="0"/>
              <a:t> </a:t>
            </a:r>
            <a:r>
              <a:rPr lang="en-US" sz="3200" b="1" dirty="0" smtClean="0"/>
              <a:t> </a:t>
            </a:r>
          </a:p>
          <a:p>
            <a:r>
              <a:rPr lang="en-US" sz="3200" b="1" dirty="0" smtClean="0">
                <a:solidFill>
                  <a:schemeClr val="bg1"/>
                </a:solidFill>
              </a:rPr>
              <a:t> </a:t>
            </a:r>
            <a:r>
              <a:rPr lang="en-US" sz="3200" b="1" dirty="0" smtClean="0">
                <a:solidFill>
                  <a:schemeClr val="bg1"/>
                </a:solidFill>
              </a:rPr>
              <a:t>Project Title:  Used Bike Prediction website</a:t>
            </a:r>
          </a:p>
          <a:p>
            <a:r>
              <a:rPr lang="en-US" sz="3200" dirty="0" smtClean="0">
                <a:solidFill>
                  <a:schemeClr val="bg1"/>
                </a:solidFill>
              </a:rPr>
              <a:t> </a:t>
            </a:r>
          </a:p>
          <a:p>
            <a:r>
              <a:rPr lang="en-US" sz="2400" dirty="0" smtClean="0">
                <a:solidFill>
                  <a:schemeClr val="bg1"/>
                </a:solidFill>
              </a:rPr>
              <a:t>               Team </a:t>
            </a:r>
            <a:r>
              <a:rPr lang="en-US" sz="2400" dirty="0">
                <a:solidFill>
                  <a:schemeClr val="bg1"/>
                </a:solidFill>
              </a:rPr>
              <a:t>Members</a:t>
            </a:r>
            <a:r>
              <a:rPr lang="en-US" dirty="0" smtClean="0">
                <a:solidFill>
                  <a:schemeClr val="bg1"/>
                </a:solidFill>
              </a:rPr>
              <a:t>:</a:t>
            </a:r>
          </a:p>
          <a:p>
            <a:r>
              <a:rPr lang="en-US" b="1" dirty="0" smtClean="0">
                <a:solidFill>
                  <a:schemeClr val="bg1"/>
                </a:solidFill>
              </a:rPr>
              <a:t>                    1) </a:t>
            </a:r>
            <a:r>
              <a:rPr lang="en-US" b="1" dirty="0" err="1" smtClean="0">
                <a:solidFill>
                  <a:schemeClr val="bg1"/>
                </a:solidFill>
              </a:rPr>
              <a:t>Shreya</a:t>
            </a:r>
            <a:r>
              <a:rPr lang="en-US" b="1" dirty="0" smtClean="0">
                <a:solidFill>
                  <a:schemeClr val="bg1"/>
                </a:solidFill>
              </a:rPr>
              <a:t> </a:t>
            </a:r>
            <a:r>
              <a:rPr lang="en-US" b="1" dirty="0" err="1" smtClean="0">
                <a:solidFill>
                  <a:schemeClr val="bg1"/>
                </a:solidFill>
              </a:rPr>
              <a:t>Kalaskar</a:t>
            </a:r>
            <a:r>
              <a:rPr lang="en-US" b="1" dirty="0" smtClean="0">
                <a:solidFill>
                  <a:schemeClr val="bg1"/>
                </a:solidFill>
              </a:rPr>
              <a:t>             202402060006</a:t>
            </a:r>
            <a:endParaRPr lang="en-US" b="1" dirty="0">
              <a:solidFill>
                <a:schemeClr val="bg1"/>
              </a:solidFill>
            </a:endParaRPr>
          </a:p>
          <a:p>
            <a:r>
              <a:rPr lang="en-US" b="1" dirty="0" smtClean="0">
                <a:solidFill>
                  <a:schemeClr val="bg1"/>
                </a:solidFill>
              </a:rPr>
              <a:t>                    2) </a:t>
            </a:r>
            <a:r>
              <a:rPr lang="en-US" b="1" dirty="0" err="1" smtClean="0">
                <a:solidFill>
                  <a:schemeClr val="bg1"/>
                </a:solidFill>
              </a:rPr>
              <a:t>Vaishnavi</a:t>
            </a:r>
            <a:r>
              <a:rPr lang="en-US" b="1" dirty="0" smtClean="0">
                <a:solidFill>
                  <a:schemeClr val="bg1"/>
                </a:solidFill>
              </a:rPr>
              <a:t> </a:t>
            </a:r>
            <a:r>
              <a:rPr lang="en-US" b="1" dirty="0" err="1" smtClean="0">
                <a:solidFill>
                  <a:schemeClr val="bg1"/>
                </a:solidFill>
              </a:rPr>
              <a:t>Shinde</a:t>
            </a:r>
            <a:r>
              <a:rPr lang="en-US" b="1" dirty="0" smtClean="0">
                <a:solidFill>
                  <a:schemeClr val="bg1"/>
                </a:solidFill>
              </a:rPr>
              <a:t>           202402060016</a:t>
            </a:r>
            <a:endParaRPr lang="en-US" b="1" dirty="0">
              <a:solidFill>
                <a:schemeClr val="bg1"/>
              </a:solidFill>
            </a:endParaRPr>
          </a:p>
        </p:txBody>
      </p:sp>
      <p:sp>
        <p:nvSpPr>
          <p:cNvPr id="14" name="TextBox 13">
            <a:extLst>
              <a:ext uri="{FF2B5EF4-FFF2-40B4-BE49-F238E27FC236}">
                <a16:creationId xmlns:a16="http://schemas.microsoft.com/office/drawing/2014/main" xmlns="" id="{CB6A886E-2DCA-E0D7-E60F-9378C9E4514F}"/>
              </a:ext>
            </a:extLst>
          </p:cNvPr>
          <p:cNvSpPr txBox="1"/>
          <p:nvPr/>
        </p:nvSpPr>
        <p:spPr>
          <a:xfrm>
            <a:off x="2960889" y="6070032"/>
            <a:ext cx="6395884" cy="369332"/>
          </a:xfrm>
          <a:prstGeom prst="rect">
            <a:avLst/>
          </a:prstGeom>
          <a:noFill/>
        </p:spPr>
        <p:txBody>
          <a:bodyPr wrap="square">
            <a:spAutoFit/>
          </a:bodyPr>
          <a:lstStyle/>
          <a:p>
            <a:r>
              <a:rPr lang="en-IN" b="1" dirty="0" smtClean="0">
                <a:solidFill>
                  <a:schemeClr val="bg1"/>
                </a:solidFill>
              </a:rPr>
              <a:t>  Guide </a:t>
            </a:r>
            <a:r>
              <a:rPr lang="en-IN" b="1" dirty="0">
                <a:solidFill>
                  <a:schemeClr val="bg1"/>
                </a:solidFill>
              </a:rPr>
              <a:t>By : Dr. Rashmi Mahajan</a:t>
            </a:r>
            <a:endParaRPr lang="en-IN" dirty="0">
              <a:solidFill>
                <a:schemeClr val="bg1"/>
              </a:solidFill>
            </a:endParaRPr>
          </a:p>
        </p:txBody>
      </p:sp>
    </p:spTree>
    <p:extLst>
      <p:ext uri="{BB962C8B-B14F-4D97-AF65-F5344CB8AC3E}">
        <p14:creationId xmlns:p14="http://schemas.microsoft.com/office/powerpoint/2010/main" val="339427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314C6C-5D8E-64FA-58F4-B7A092403705}"/>
              </a:ext>
            </a:extLst>
          </p:cNvPr>
          <p:cNvSpPr>
            <a:spLocks noGrp="1"/>
          </p:cNvSpPr>
          <p:nvPr>
            <p:ph type="title"/>
          </p:nvPr>
        </p:nvSpPr>
        <p:spPr>
          <a:xfrm>
            <a:off x="838200" y="365125"/>
            <a:ext cx="9921658" cy="1325563"/>
          </a:xfrm>
        </p:spPr>
        <p:txBody>
          <a:bodyPr/>
          <a:lstStyle/>
          <a:p>
            <a:r>
              <a:rPr lang="en-IN" b="1" dirty="0" smtClean="0">
                <a:latin typeface="Times New Roman" pitchFamily="18" charset="0"/>
                <a:cs typeface="Times New Roman" pitchFamily="18" charset="0"/>
              </a:rPr>
              <a:t> Introduction</a:t>
            </a:r>
            <a:r>
              <a:rPr lang="en-IN" b="1" dirty="0">
                <a:latin typeface="Times New Roman" pitchFamily="18" charset="0"/>
                <a:cs typeface="Times New Roman" pitchFamily="18" charset="0"/>
              </a:rPr>
              <a:t/>
            </a:r>
            <a:br>
              <a:rPr lang="en-IN" b="1" dirty="0">
                <a:latin typeface="Times New Roman" pitchFamily="18" charset="0"/>
                <a:cs typeface="Times New Roman" pitchFamily="18" charset="0"/>
              </a:rPr>
            </a:br>
            <a:endParaRPr lang="en-IN" dirty="0">
              <a:latin typeface="Times New Roman" pitchFamily="18" charset="0"/>
              <a:cs typeface="Times New Roman" pitchFamily="18" charset="0"/>
            </a:endParaRPr>
          </a:p>
        </p:txBody>
      </p:sp>
      <p:sp>
        <p:nvSpPr>
          <p:cNvPr id="6" name="Rectangle 1">
            <a:extLst>
              <a:ext uri="{FF2B5EF4-FFF2-40B4-BE49-F238E27FC236}">
                <a16:creationId xmlns:a16="http://schemas.microsoft.com/office/drawing/2014/main" xmlns="" id="{526E0CF8-4B81-C988-7DA9-0D76829A31E7}"/>
              </a:ext>
            </a:extLst>
          </p:cNvPr>
          <p:cNvSpPr>
            <a:spLocks noChangeArrowheads="1"/>
          </p:cNvSpPr>
          <p:nvPr/>
        </p:nvSpPr>
        <p:spPr bwMode="auto">
          <a:xfrm>
            <a:off x="516126" y="1882335"/>
            <a:ext cx="7112225"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pPr>
            <a:r>
              <a:rPr lang="en-US" sz="2000" dirty="0" smtClean="0"/>
              <a:t> The </a:t>
            </a:r>
            <a:r>
              <a:rPr lang="en-US" sz="2000" i="1" dirty="0"/>
              <a:t>Used Bike Price Predictor</a:t>
            </a:r>
            <a:r>
              <a:rPr lang="en-US" sz="2000" dirty="0"/>
              <a:t> is a web-based application designed to estimate the fair resale value of second-hand motorcycles. In the current market, buyers and sellers often struggle with inconsistent pricing due to negotiation, personal </a:t>
            </a:r>
            <a:r>
              <a:rPr lang="en-US" sz="2000" dirty="0" err="1"/>
              <a:t>judgement</a:t>
            </a:r>
            <a:r>
              <a:rPr lang="en-US" sz="2000" dirty="0"/>
              <a:t>, and lack of standard valuation. This system solves that problem by predicting the price based on real factors such as bike brand, model year, kilometers driven, number of owners, and city</a:t>
            </a:r>
            <a:r>
              <a:rPr lang="en-US" sz="2000" dirty="0" smtClean="0"/>
              <a:t>.</a:t>
            </a:r>
          </a:p>
          <a:p>
            <a:pPr lvl="0" algn="just" defTabSz="914400" eaLnBrk="0" fontAlgn="base" hangingPunct="0">
              <a:spcBef>
                <a:spcPct val="0"/>
              </a:spcBef>
              <a:spcAft>
                <a:spcPct val="0"/>
              </a:spcAft>
            </a:pPr>
            <a:r>
              <a:rPr lang="en-US" sz="2000" dirty="0" smtClean="0"/>
              <a:t>Using </a:t>
            </a:r>
            <a:r>
              <a:rPr lang="en-US" sz="2000" dirty="0"/>
              <a:t>a rule-based pricing model implemented in JavaScript, the system provides instant price estimation along with a clear breakdown of how each factor influences the final value. The platform helps both buyers and sellers make informed decisions with transparency, fairness, and confidence.</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23779" r="32282"/>
          <a:stretch/>
        </p:blipFill>
        <p:spPr>
          <a:xfrm>
            <a:off x="7628351" y="1892738"/>
            <a:ext cx="4258850" cy="4083025"/>
          </a:xfrm>
          <a:prstGeom prst="rect">
            <a:avLst/>
          </a:prstGeom>
        </p:spPr>
      </p:pic>
    </p:spTree>
    <p:extLst>
      <p:ext uri="{BB962C8B-B14F-4D97-AF65-F5344CB8AC3E}">
        <p14:creationId xmlns:p14="http://schemas.microsoft.com/office/powerpoint/2010/main" val="34297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2EEAAC-E220-DA08-697F-6BAD14C98066}"/>
              </a:ext>
            </a:extLst>
          </p:cNvPr>
          <p:cNvSpPr>
            <a:spLocks noGrp="1"/>
          </p:cNvSpPr>
          <p:nvPr>
            <p:ph type="title"/>
          </p:nvPr>
        </p:nvSpPr>
        <p:spPr/>
        <p:txBody>
          <a:bodyPr/>
          <a:lstStyle/>
          <a:p>
            <a:r>
              <a:rPr lang="en-IN" sz="3600" b="1" dirty="0"/>
              <a:t>Project Objectives</a:t>
            </a:r>
            <a:br>
              <a:rPr lang="en-IN" sz="3600" b="1" dirty="0"/>
            </a:br>
            <a:endParaRPr lang="en-IN" sz="3600" dirty="0"/>
          </a:p>
        </p:txBody>
      </p:sp>
      <p:sp>
        <p:nvSpPr>
          <p:cNvPr id="6" name="Rectangle 1">
            <a:extLst>
              <a:ext uri="{FF2B5EF4-FFF2-40B4-BE49-F238E27FC236}">
                <a16:creationId xmlns:a16="http://schemas.microsoft.com/office/drawing/2014/main" xmlns="" id="{904C9A1D-D91E-A568-7E7B-3345ECA4255A}"/>
              </a:ext>
            </a:extLst>
          </p:cNvPr>
          <p:cNvSpPr>
            <a:spLocks noChangeArrowheads="1"/>
          </p:cNvSpPr>
          <p:nvPr/>
        </p:nvSpPr>
        <p:spPr bwMode="auto">
          <a:xfrm>
            <a:off x="487915" y="2028531"/>
            <a:ext cx="10459831"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Arial" pitchFamily="34" charset="0"/>
              <a:buChar char="•"/>
            </a:pPr>
            <a:r>
              <a:rPr lang="en-US" sz="2400" dirty="0"/>
              <a:t>To develop a system that predicts the resale price of used motorcycles accurately and transparently.</a:t>
            </a:r>
          </a:p>
          <a:p>
            <a:pPr marL="342900" indent="-342900">
              <a:buFont typeface="Arial" pitchFamily="34" charset="0"/>
              <a:buChar char="•"/>
            </a:pPr>
            <a:r>
              <a:rPr lang="en-US" sz="2400" dirty="0"/>
              <a:t>To eliminate guesswork and negotiation-based pricing by using measurable real-world parameters.</a:t>
            </a:r>
          </a:p>
          <a:p>
            <a:pPr marL="342900" indent="-342900">
              <a:buFont typeface="Arial" pitchFamily="34" charset="0"/>
              <a:buChar char="•"/>
            </a:pPr>
            <a:r>
              <a:rPr lang="en-US" sz="2400" dirty="0"/>
              <a:t>To evaluate important factors such as brand, model year, kilometers driven, number of owners, and city demand.</a:t>
            </a:r>
          </a:p>
          <a:p>
            <a:pPr marL="342900" indent="-342900">
              <a:buFont typeface="Arial" pitchFamily="34" charset="0"/>
              <a:buChar char="•"/>
            </a:pPr>
            <a:r>
              <a:rPr lang="en-US" sz="2400" dirty="0"/>
              <a:t>To provide instant price estimation along with a clear breakdown of each factor’s impact.</a:t>
            </a:r>
          </a:p>
          <a:p>
            <a:pPr marL="342900" indent="-342900">
              <a:buFont typeface="Arial" pitchFamily="34" charset="0"/>
              <a:buChar char="•"/>
            </a:pPr>
            <a:r>
              <a:rPr lang="en-US" sz="2400" dirty="0"/>
              <a:t>To support buyers and sellers in making informed and fair resale decisions.</a:t>
            </a:r>
          </a:p>
          <a:p>
            <a:pPr marL="342900" indent="-342900">
              <a:buFont typeface="Arial" pitchFamily="34" charset="0"/>
              <a:buChar char="•"/>
            </a:pPr>
            <a:r>
              <a:rPr lang="en-US" sz="2400" dirty="0"/>
              <a:t>To build trust and transparency in the second-hand bike market</a:t>
            </a:r>
          </a:p>
        </p:txBody>
      </p:sp>
    </p:spTree>
    <p:extLst>
      <p:ext uri="{BB962C8B-B14F-4D97-AF65-F5344CB8AC3E}">
        <p14:creationId xmlns:p14="http://schemas.microsoft.com/office/powerpoint/2010/main" val="2919776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850A1A0-5DB8-64A5-BD32-A30003537EDC}"/>
              </a:ext>
            </a:extLst>
          </p:cNvPr>
          <p:cNvSpPr>
            <a:spLocks noGrp="1"/>
          </p:cNvSpPr>
          <p:nvPr>
            <p:ph idx="1"/>
          </p:nvPr>
        </p:nvSpPr>
        <p:spPr>
          <a:xfrm>
            <a:off x="258096" y="1825624"/>
            <a:ext cx="9875459" cy="4351338"/>
          </a:xfrm>
        </p:spPr>
        <p:txBody>
          <a:bodyPr>
            <a:normAutofit/>
          </a:bodyPr>
          <a:lstStyle/>
          <a:p>
            <a:r>
              <a:rPr lang="en-US" dirty="0"/>
              <a:t>User-friendly web interface for entering bike details easily</a:t>
            </a:r>
          </a:p>
          <a:p>
            <a:r>
              <a:rPr lang="en-US" dirty="0"/>
              <a:t>Instant price prediction without page reload</a:t>
            </a:r>
          </a:p>
          <a:p>
            <a:r>
              <a:rPr lang="en-US" dirty="0"/>
              <a:t>Rule-based pricing model simulating real market depreciation</a:t>
            </a:r>
          </a:p>
          <a:p>
            <a:r>
              <a:rPr lang="en-US" dirty="0"/>
              <a:t>Factor-wise breakdown showing age impact, kilometers impact, owner impact, brand value, and city premium</a:t>
            </a:r>
          </a:p>
          <a:p>
            <a:r>
              <a:rPr lang="en-US" dirty="0"/>
              <a:t>Useful buyer and seller tips to support decision-making</a:t>
            </a:r>
          </a:p>
          <a:p>
            <a:r>
              <a:rPr lang="en-US" dirty="0"/>
              <a:t>Suggestions of similar bikes for comparison</a:t>
            </a:r>
          </a:p>
          <a:p>
            <a:r>
              <a:rPr lang="en-US" dirty="0"/>
              <a:t>No backend required — complete client-side processing for fast performance</a:t>
            </a:r>
          </a:p>
          <a:p>
            <a:r>
              <a:rPr lang="en-US" dirty="0"/>
              <a:t>Compatible across mobile, laptop, and desktop browsers</a:t>
            </a:r>
          </a:p>
          <a:p>
            <a:endParaRPr lang="en-IN" dirty="0"/>
          </a:p>
        </p:txBody>
      </p:sp>
      <p:sp>
        <p:nvSpPr>
          <p:cNvPr id="2" name="Title 1">
            <a:extLst>
              <a:ext uri="{FF2B5EF4-FFF2-40B4-BE49-F238E27FC236}">
                <a16:creationId xmlns:a16="http://schemas.microsoft.com/office/drawing/2014/main" xmlns="" id="{971228B2-60F9-7F21-F3E1-76B1A7475F2B}"/>
              </a:ext>
            </a:extLst>
          </p:cNvPr>
          <p:cNvSpPr>
            <a:spLocks noGrp="1"/>
          </p:cNvSpPr>
          <p:nvPr>
            <p:ph type="title"/>
          </p:nvPr>
        </p:nvSpPr>
        <p:spPr/>
        <p:txBody>
          <a:bodyPr/>
          <a:lstStyle/>
          <a:p>
            <a:r>
              <a:rPr lang="en-IN" b="1" dirty="0"/>
              <a:t>Key Features</a:t>
            </a:r>
            <a:br>
              <a:rPr lang="en-IN" b="1" dirty="0"/>
            </a:br>
            <a:endParaRPr lang="en-IN" dirty="0"/>
          </a:p>
        </p:txBody>
      </p:sp>
    </p:spTree>
    <p:extLst>
      <p:ext uri="{BB962C8B-B14F-4D97-AF65-F5344CB8AC3E}">
        <p14:creationId xmlns:p14="http://schemas.microsoft.com/office/powerpoint/2010/main" val="3636235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2BA209-47A1-1B58-0A51-97EB381EAF8A}"/>
              </a:ext>
            </a:extLst>
          </p:cNvPr>
          <p:cNvSpPr>
            <a:spLocks noGrp="1"/>
          </p:cNvSpPr>
          <p:nvPr>
            <p:ph type="title"/>
          </p:nvPr>
        </p:nvSpPr>
        <p:spPr/>
        <p:txBody>
          <a:bodyPr/>
          <a:lstStyle/>
          <a:p>
            <a:r>
              <a:rPr lang="en-IN" b="1" dirty="0"/>
              <a:t>Project Structure</a:t>
            </a:r>
            <a:br>
              <a:rPr lang="en-IN" b="1" dirty="0"/>
            </a:br>
            <a:endParaRPr lang="en-IN" dirty="0"/>
          </a:p>
        </p:txBody>
      </p:sp>
      <p:sp>
        <p:nvSpPr>
          <p:cNvPr id="5" name="Content Placeholder 4"/>
          <p:cNvSpPr>
            <a:spLocks noGrp="1"/>
          </p:cNvSpPr>
          <p:nvPr>
            <p:ph idx="1"/>
          </p:nvPr>
        </p:nvSpPr>
        <p:spPr/>
        <p:txBody>
          <a:bodyPr>
            <a:normAutofit lnSpcReduction="10000"/>
          </a:bodyPr>
          <a:lstStyle/>
          <a:p>
            <a:r>
              <a:rPr lang="en-US" b="1" dirty="0"/>
              <a:t>User Interface Layer (HTML + CSS)</a:t>
            </a:r>
            <a:r>
              <a:rPr lang="en-US" dirty="0"/>
              <a:t/>
            </a:r>
            <a:br>
              <a:rPr lang="en-US" dirty="0"/>
            </a:br>
            <a:r>
              <a:rPr lang="en-US" dirty="0"/>
              <a:t>Provides the input form and visual layout for entering bike details and viewing results.</a:t>
            </a:r>
          </a:p>
          <a:p>
            <a:r>
              <a:rPr lang="en-US" b="1" dirty="0"/>
              <a:t>Logic Layer (JavaScript)</a:t>
            </a:r>
            <a:r>
              <a:rPr lang="en-US" dirty="0"/>
              <a:t/>
            </a:r>
            <a:br>
              <a:rPr lang="en-US" dirty="0"/>
            </a:br>
            <a:r>
              <a:rPr lang="en-US" dirty="0"/>
              <a:t>Handles input validation, applies the pricing formula, calculates the estimated price, and updates the output dynamically.</a:t>
            </a:r>
          </a:p>
          <a:p>
            <a:r>
              <a:rPr lang="en-US" b="1" dirty="0"/>
              <a:t>Pricing Model Module</a:t>
            </a:r>
            <a:r>
              <a:rPr lang="en-US" dirty="0"/>
              <a:t/>
            </a:r>
            <a:br>
              <a:rPr lang="en-US" dirty="0"/>
            </a:br>
            <a:r>
              <a:rPr lang="en-US" dirty="0"/>
              <a:t>Contains the rule-based depreciation and value-addition logic based on brand, year, kilometers, owners, and city.</a:t>
            </a:r>
          </a:p>
          <a:p>
            <a:r>
              <a:rPr lang="en-US" b="1" dirty="0"/>
              <a:t>Result Display Module</a:t>
            </a:r>
            <a:r>
              <a:rPr lang="en-US" dirty="0"/>
              <a:t/>
            </a:r>
            <a:br>
              <a:rPr lang="en-US" dirty="0"/>
            </a:br>
            <a:r>
              <a:rPr lang="en-US" dirty="0"/>
              <a:t>Shows the predicted price, factor-wise breakdown, buyer tips, seller tips, and similar bikes.</a:t>
            </a:r>
          </a:p>
          <a:p>
            <a:r>
              <a:rPr lang="en-US" b="1" dirty="0"/>
              <a:t>Deployment Layer (Static Hosting / </a:t>
            </a:r>
            <a:r>
              <a:rPr lang="en-US" b="1" dirty="0" err="1"/>
              <a:t>GitHub</a:t>
            </a:r>
            <a:r>
              <a:rPr lang="en-US" b="1" dirty="0"/>
              <a:t> Pages)</a:t>
            </a:r>
            <a:r>
              <a:rPr lang="en-US" dirty="0"/>
              <a:t/>
            </a:r>
            <a:br>
              <a:rPr lang="en-US" dirty="0"/>
            </a:br>
            <a:r>
              <a:rPr lang="en-US" dirty="0"/>
              <a:t>Hosts the complete application for public access without requiring a backend server.</a:t>
            </a:r>
          </a:p>
          <a:p>
            <a:pPr marL="45720" indent="0">
              <a:buNone/>
            </a:pPr>
            <a:endParaRPr lang="en-US" dirty="0"/>
          </a:p>
        </p:txBody>
      </p:sp>
    </p:spTree>
    <p:extLst>
      <p:ext uri="{BB962C8B-B14F-4D97-AF65-F5344CB8AC3E}">
        <p14:creationId xmlns:p14="http://schemas.microsoft.com/office/powerpoint/2010/main" val="2457276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30562B-3BCA-92BB-2D5E-C0F1B20A33F6}"/>
              </a:ext>
            </a:extLst>
          </p:cNvPr>
          <p:cNvSpPr>
            <a:spLocks noGrp="1"/>
          </p:cNvSpPr>
          <p:nvPr>
            <p:ph type="title"/>
          </p:nvPr>
        </p:nvSpPr>
        <p:spPr/>
        <p:txBody>
          <a:bodyPr/>
          <a:lstStyle/>
          <a:p>
            <a:r>
              <a:rPr lang="en-IN" b="1" dirty="0"/>
              <a:t>Development Workflow</a:t>
            </a:r>
            <a:br>
              <a:rPr lang="en-IN" b="1" dirty="0"/>
            </a:br>
            <a:endParaRPr lang="en-IN" dirty="0"/>
          </a:p>
        </p:txBody>
      </p:sp>
      <p:sp>
        <p:nvSpPr>
          <p:cNvPr id="7" name="TextBox 6">
            <a:extLst>
              <a:ext uri="{FF2B5EF4-FFF2-40B4-BE49-F238E27FC236}">
                <a16:creationId xmlns:a16="http://schemas.microsoft.com/office/drawing/2014/main" xmlns="" id="{24B6B338-A692-042F-D15F-B72AA58E048F}"/>
              </a:ext>
            </a:extLst>
          </p:cNvPr>
          <p:cNvSpPr txBox="1"/>
          <p:nvPr/>
        </p:nvSpPr>
        <p:spPr>
          <a:xfrm>
            <a:off x="462118" y="1707145"/>
            <a:ext cx="3411793" cy="2062103"/>
          </a:xfrm>
          <a:prstGeom prst="rect">
            <a:avLst/>
          </a:prstGeom>
          <a:noFill/>
        </p:spPr>
        <p:txBody>
          <a:bodyPr wrap="square" rtlCol="0">
            <a:spAutoFit/>
          </a:bodyPr>
          <a:lstStyle/>
          <a:p>
            <a:r>
              <a:rPr lang="en-US" sz="1600" b="1" dirty="0"/>
              <a:t>1. Planning Phase</a:t>
            </a:r>
          </a:p>
          <a:p>
            <a:r>
              <a:rPr lang="en-US" sz="1600" dirty="0"/>
              <a:t>Identified the need for a transparent bike price prediction system</a:t>
            </a:r>
          </a:p>
          <a:p>
            <a:r>
              <a:rPr lang="en-US" sz="1600" dirty="0"/>
              <a:t>Finalized core parameters: brand, year, </a:t>
            </a:r>
            <a:r>
              <a:rPr lang="en-US" sz="1600" dirty="0" err="1"/>
              <a:t>kms</a:t>
            </a:r>
            <a:r>
              <a:rPr lang="en-US" sz="1600" dirty="0"/>
              <a:t>, owners, city</a:t>
            </a:r>
          </a:p>
          <a:p>
            <a:r>
              <a:rPr lang="en-US" sz="1600" dirty="0"/>
              <a:t>Designed UI wireframes and user flow of the system</a:t>
            </a:r>
          </a:p>
          <a:p>
            <a:endParaRPr lang="en-IN" sz="1600" dirty="0"/>
          </a:p>
        </p:txBody>
      </p:sp>
      <p:sp>
        <p:nvSpPr>
          <p:cNvPr id="8" name="TextBox 7">
            <a:extLst>
              <a:ext uri="{FF2B5EF4-FFF2-40B4-BE49-F238E27FC236}">
                <a16:creationId xmlns:a16="http://schemas.microsoft.com/office/drawing/2014/main" xmlns="" id="{6610EC3B-B672-C880-F3E2-C0781BB60CD6}"/>
              </a:ext>
            </a:extLst>
          </p:cNvPr>
          <p:cNvSpPr txBox="1"/>
          <p:nvPr/>
        </p:nvSpPr>
        <p:spPr>
          <a:xfrm>
            <a:off x="7403691" y="1635803"/>
            <a:ext cx="3854245" cy="2092881"/>
          </a:xfrm>
          <a:prstGeom prst="rect">
            <a:avLst/>
          </a:prstGeom>
          <a:noFill/>
        </p:spPr>
        <p:txBody>
          <a:bodyPr wrap="square" rtlCol="0">
            <a:spAutoFit/>
          </a:bodyPr>
          <a:lstStyle/>
          <a:p>
            <a:r>
              <a:rPr lang="en-US" sz="1600" b="1" dirty="0" smtClean="0"/>
              <a:t>2</a:t>
            </a:r>
            <a:r>
              <a:rPr lang="en-US" sz="1600" b="1" dirty="0"/>
              <a:t>. HTML &amp; CSS Development</a:t>
            </a:r>
          </a:p>
          <a:p>
            <a:r>
              <a:rPr lang="en-US" sz="1600" dirty="0"/>
              <a:t>Built structured HTML form for input and result sections</a:t>
            </a:r>
          </a:p>
          <a:p>
            <a:r>
              <a:rPr lang="en-US" sz="1600" dirty="0"/>
              <a:t>Applied CSS with gradients and </a:t>
            </a:r>
            <a:r>
              <a:rPr lang="en-US" sz="1600" dirty="0" err="1"/>
              <a:t>glassmorphism</a:t>
            </a:r>
            <a:r>
              <a:rPr lang="en-US" sz="1600" dirty="0"/>
              <a:t> for modern look</a:t>
            </a:r>
          </a:p>
          <a:p>
            <a:r>
              <a:rPr lang="en-US" sz="1600" dirty="0"/>
              <a:t>Ensured responsive layout for mobile, tablet, and desktop</a:t>
            </a:r>
          </a:p>
          <a:p>
            <a:endParaRPr lang="en-IN" dirty="0"/>
          </a:p>
        </p:txBody>
      </p:sp>
      <p:sp>
        <p:nvSpPr>
          <p:cNvPr id="9" name="TextBox 8">
            <a:extLst>
              <a:ext uri="{FF2B5EF4-FFF2-40B4-BE49-F238E27FC236}">
                <a16:creationId xmlns:a16="http://schemas.microsoft.com/office/drawing/2014/main" xmlns="" id="{D17A7C0E-F6AF-1383-3643-04061B07DB8E}"/>
              </a:ext>
            </a:extLst>
          </p:cNvPr>
          <p:cNvSpPr txBox="1"/>
          <p:nvPr/>
        </p:nvSpPr>
        <p:spPr>
          <a:xfrm>
            <a:off x="393290" y="3690368"/>
            <a:ext cx="2635045" cy="2308324"/>
          </a:xfrm>
          <a:prstGeom prst="rect">
            <a:avLst/>
          </a:prstGeom>
          <a:noFill/>
        </p:spPr>
        <p:txBody>
          <a:bodyPr wrap="square" rtlCol="0">
            <a:spAutoFit/>
          </a:bodyPr>
          <a:lstStyle/>
          <a:p>
            <a:r>
              <a:rPr lang="en-US" sz="1600" b="1" dirty="0"/>
              <a:t>3. JavaScript Logic Implementation</a:t>
            </a:r>
          </a:p>
          <a:p>
            <a:r>
              <a:rPr lang="en-US" sz="1600" dirty="0"/>
              <a:t>Added validation for each input field</a:t>
            </a:r>
          </a:p>
          <a:p>
            <a:r>
              <a:rPr lang="en-US" sz="1600" dirty="0"/>
              <a:t>Developed rule-based pricing formula step-by-step</a:t>
            </a:r>
          </a:p>
          <a:p>
            <a:r>
              <a:rPr lang="en-US" sz="1600" dirty="0"/>
              <a:t>Automated dynamic rendering of price and breakdown</a:t>
            </a:r>
          </a:p>
        </p:txBody>
      </p:sp>
      <p:sp>
        <p:nvSpPr>
          <p:cNvPr id="10" name="TextBox 9">
            <a:extLst>
              <a:ext uri="{FF2B5EF4-FFF2-40B4-BE49-F238E27FC236}">
                <a16:creationId xmlns:a16="http://schemas.microsoft.com/office/drawing/2014/main" xmlns="" id="{5B6D3447-2AF7-998A-6DD0-065F93FA5736}"/>
              </a:ext>
            </a:extLst>
          </p:cNvPr>
          <p:cNvSpPr txBox="1"/>
          <p:nvPr/>
        </p:nvSpPr>
        <p:spPr>
          <a:xfrm>
            <a:off x="7379448" y="3626653"/>
            <a:ext cx="3077496" cy="1815882"/>
          </a:xfrm>
          <a:prstGeom prst="rect">
            <a:avLst/>
          </a:prstGeom>
          <a:noFill/>
        </p:spPr>
        <p:txBody>
          <a:bodyPr wrap="square" rtlCol="0">
            <a:spAutoFit/>
          </a:bodyPr>
          <a:lstStyle/>
          <a:p>
            <a:r>
              <a:rPr lang="en-US" sz="1600" b="1" dirty="0"/>
              <a:t>4. Debug &amp; Optimize</a:t>
            </a:r>
          </a:p>
          <a:p>
            <a:r>
              <a:rPr lang="en-US" sz="1600" dirty="0"/>
              <a:t>Used browser </a:t>
            </a:r>
            <a:r>
              <a:rPr lang="en-US" sz="1600" dirty="0" err="1"/>
              <a:t>DevTools</a:t>
            </a:r>
            <a:r>
              <a:rPr lang="en-US" sz="1600" dirty="0"/>
              <a:t> to check calculation and UI </a:t>
            </a:r>
            <a:r>
              <a:rPr lang="en-US" sz="1600" dirty="0" err="1"/>
              <a:t>behaviour</a:t>
            </a:r>
            <a:endParaRPr lang="en-US" sz="1600" dirty="0"/>
          </a:p>
          <a:p>
            <a:r>
              <a:rPr lang="en-US" sz="1600" dirty="0"/>
              <a:t>Improved performance of result updates and responsiveness</a:t>
            </a:r>
          </a:p>
          <a:p>
            <a:r>
              <a:rPr lang="en-US" sz="1600" dirty="0"/>
              <a:t>Fixed styling, layout, and dynamic content bugs</a:t>
            </a:r>
          </a:p>
        </p:txBody>
      </p:sp>
      <p:sp>
        <p:nvSpPr>
          <p:cNvPr id="11" name="TextBox 10">
            <a:extLst>
              <a:ext uri="{FF2B5EF4-FFF2-40B4-BE49-F238E27FC236}">
                <a16:creationId xmlns:a16="http://schemas.microsoft.com/office/drawing/2014/main" xmlns="" id="{8CE4EFED-4FD8-E56A-D97C-BCBC9399727F}"/>
              </a:ext>
            </a:extLst>
          </p:cNvPr>
          <p:cNvSpPr txBox="1"/>
          <p:nvPr/>
        </p:nvSpPr>
        <p:spPr>
          <a:xfrm>
            <a:off x="3394688" y="4668487"/>
            <a:ext cx="3667433" cy="1815882"/>
          </a:xfrm>
          <a:prstGeom prst="rect">
            <a:avLst/>
          </a:prstGeom>
          <a:noFill/>
        </p:spPr>
        <p:txBody>
          <a:bodyPr wrap="square" rtlCol="0">
            <a:spAutoFit/>
          </a:bodyPr>
          <a:lstStyle/>
          <a:p>
            <a:r>
              <a:rPr lang="en-US" sz="1600" b="1" dirty="0"/>
              <a:t>5. Deployment</a:t>
            </a:r>
          </a:p>
          <a:p>
            <a:r>
              <a:rPr lang="en-US" sz="1600" dirty="0"/>
              <a:t>Deployed the fully client-side app using </a:t>
            </a:r>
            <a:r>
              <a:rPr lang="en-US" sz="1600" dirty="0" err="1"/>
              <a:t>GitHub</a:t>
            </a:r>
            <a:r>
              <a:rPr lang="en-US" sz="1600" dirty="0"/>
              <a:t> Pages</a:t>
            </a:r>
          </a:p>
          <a:p>
            <a:r>
              <a:rPr lang="en-US" sz="1600" dirty="0"/>
              <a:t>Ensured smooth loading without server dependency</a:t>
            </a:r>
          </a:p>
          <a:p>
            <a:r>
              <a:rPr lang="en-US" sz="1600" dirty="0"/>
              <a:t>Tested accessibility and performance after deployment</a:t>
            </a:r>
          </a:p>
        </p:txBody>
      </p:sp>
    </p:spTree>
    <p:extLst>
      <p:ext uri="{BB962C8B-B14F-4D97-AF65-F5344CB8AC3E}">
        <p14:creationId xmlns:p14="http://schemas.microsoft.com/office/powerpoint/2010/main" val="3132036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6411FD2-A0B4-449E-036D-2A71EB973B0F}"/>
              </a:ext>
            </a:extLst>
          </p:cNvPr>
          <p:cNvSpPr>
            <a:spLocks noGrp="1"/>
          </p:cNvSpPr>
          <p:nvPr>
            <p:ph type="title"/>
          </p:nvPr>
        </p:nvSpPr>
        <p:spPr/>
        <p:txBody>
          <a:bodyPr/>
          <a:lstStyle/>
          <a:p>
            <a:r>
              <a:rPr lang="en-IN" b="1" dirty="0"/>
              <a:t>Project Screenshots</a:t>
            </a:r>
            <a:br>
              <a:rPr lang="en-IN" b="1" dirty="0"/>
            </a:br>
            <a:endParaRPr lang="en-IN" dirty="0"/>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23537" r="31133"/>
          <a:stretch/>
        </p:blipFill>
        <p:spPr>
          <a:xfrm>
            <a:off x="789139" y="1825564"/>
            <a:ext cx="4559474" cy="4237101"/>
          </a:xfrm>
          <a:prstGeom prst="rect">
            <a:avLst/>
          </a:prstGeom>
        </p:spPr>
      </p:pic>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25157" r="30634"/>
          <a:stretch/>
        </p:blipFill>
        <p:spPr>
          <a:xfrm>
            <a:off x="5987442" y="2007873"/>
            <a:ext cx="4446739" cy="4054792"/>
          </a:xfrm>
          <a:prstGeom prst="rect">
            <a:avLst/>
          </a:prstGeom>
        </p:spPr>
      </p:pic>
    </p:spTree>
    <p:extLst>
      <p:ext uri="{BB962C8B-B14F-4D97-AF65-F5344CB8AC3E}">
        <p14:creationId xmlns:p14="http://schemas.microsoft.com/office/powerpoint/2010/main" val="2471619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730E1B2-5D02-39A0-6126-FDFC2FE13F45}"/>
              </a:ext>
            </a:extLst>
          </p:cNvPr>
          <p:cNvSpPr>
            <a:spLocks noGrp="1"/>
          </p:cNvSpPr>
          <p:nvPr>
            <p:ph idx="1"/>
          </p:nvPr>
        </p:nvSpPr>
        <p:spPr>
          <a:xfrm>
            <a:off x="582561" y="1619148"/>
            <a:ext cx="10515600" cy="4351338"/>
          </a:xfrm>
        </p:spPr>
        <p:txBody>
          <a:bodyPr>
            <a:normAutofit fontScale="92500"/>
          </a:bodyPr>
          <a:lstStyle/>
          <a:p>
            <a:r>
              <a:rPr lang="en-US" b="1" dirty="0"/>
              <a:t>1. Accurate Price Prediction</a:t>
            </a:r>
          </a:p>
          <a:p>
            <a:pPr marL="45720" indent="0">
              <a:buNone/>
            </a:pPr>
            <a:r>
              <a:rPr lang="en-US" b="1" dirty="0" smtClean="0"/>
              <a:t>Challenge</a:t>
            </a:r>
            <a:r>
              <a:rPr lang="en-US" b="1" dirty="0"/>
              <a:t>:</a:t>
            </a:r>
            <a:r>
              <a:rPr lang="en-US" dirty="0"/>
              <a:t> Difficult to estimate resale value without market dataset</a:t>
            </a:r>
            <a:br>
              <a:rPr lang="en-US" dirty="0"/>
            </a:br>
            <a:r>
              <a:rPr lang="en-US" b="1" dirty="0"/>
              <a:t>Solution:</a:t>
            </a:r>
            <a:r>
              <a:rPr lang="en-US" dirty="0"/>
              <a:t> Developed a rule-based pricing model using depreciation and brand/city value factors</a:t>
            </a:r>
          </a:p>
          <a:p>
            <a:r>
              <a:rPr lang="en-US" b="1" dirty="0"/>
              <a:t>2. Instant Dynamic Output</a:t>
            </a:r>
          </a:p>
          <a:p>
            <a:pPr marL="45720" indent="0">
              <a:buNone/>
            </a:pPr>
            <a:r>
              <a:rPr lang="en-US" b="1" dirty="0"/>
              <a:t>Challenge:</a:t>
            </a:r>
            <a:r>
              <a:rPr lang="en-US" dirty="0"/>
              <a:t> Required to show results instantly without refreshing the page</a:t>
            </a:r>
            <a:br>
              <a:rPr lang="en-US" dirty="0"/>
            </a:br>
            <a:r>
              <a:rPr lang="en-US" b="1" dirty="0"/>
              <a:t>Solution:</a:t>
            </a:r>
            <a:r>
              <a:rPr lang="en-US" dirty="0"/>
              <a:t> Used JavaScript DOM manipulation for real-time result rendering</a:t>
            </a:r>
          </a:p>
          <a:p>
            <a:r>
              <a:rPr lang="en-US" b="1" dirty="0"/>
              <a:t>3. Input Validation</a:t>
            </a:r>
          </a:p>
          <a:p>
            <a:pPr marL="45720" indent="0">
              <a:buNone/>
            </a:pPr>
            <a:r>
              <a:rPr lang="en-US" b="1" dirty="0"/>
              <a:t>Challenge:</a:t>
            </a:r>
            <a:r>
              <a:rPr lang="en-US" dirty="0"/>
              <a:t> Wrong or missing inputs caused incorrect calculations</a:t>
            </a:r>
            <a:br>
              <a:rPr lang="en-US" dirty="0"/>
            </a:br>
            <a:r>
              <a:rPr lang="en-US" b="1" dirty="0"/>
              <a:t>Solution:</a:t>
            </a:r>
            <a:r>
              <a:rPr lang="en-US" dirty="0"/>
              <a:t> Added validation checks and alert messages before performing prediction</a:t>
            </a:r>
          </a:p>
          <a:p>
            <a:r>
              <a:rPr lang="en-US" b="1" dirty="0"/>
              <a:t>4. Responsive UI</a:t>
            </a:r>
          </a:p>
          <a:p>
            <a:pPr marL="45720" indent="0">
              <a:buNone/>
            </a:pPr>
            <a:r>
              <a:rPr lang="en-US" b="1" dirty="0"/>
              <a:t>Challenge:</a:t>
            </a:r>
            <a:r>
              <a:rPr lang="en-US" dirty="0"/>
              <a:t> Layout had to work perfectly on mobile, tablet, and desktop</a:t>
            </a:r>
            <a:br>
              <a:rPr lang="en-US" dirty="0"/>
            </a:br>
            <a:r>
              <a:rPr lang="en-US" b="1" dirty="0"/>
              <a:t>Solution:</a:t>
            </a:r>
            <a:r>
              <a:rPr lang="en-US" dirty="0"/>
              <a:t> Applied responsive CSS and tested across multiple screen sizes</a:t>
            </a:r>
          </a:p>
          <a:p>
            <a:endParaRPr lang="en-IN" dirty="0"/>
          </a:p>
        </p:txBody>
      </p:sp>
      <p:sp>
        <p:nvSpPr>
          <p:cNvPr id="2" name="Title 1">
            <a:extLst>
              <a:ext uri="{FF2B5EF4-FFF2-40B4-BE49-F238E27FC236}">
                <a16:creationId xmlns:a16="http://schemas.microsoft.com/office/drawing/2014/main" xmlns="" id="{7918C36C-E1F7-7961-0E5A-9F9C25D127D6}"/>
              </a:ext>
            </a:extLst>
          </p:cNvPr>
          <p:cNvSpPr>
            <a:spLocks noGrp="1"/>
          </p:cNvSpPr>
          <p:nvPr>
            <p:ph type="title"/>
          </p:nvPr>
        </p:nvSpPr>
        <p:spPr/>
        <p:txBody>
          <a:bodyPr/>
          <a:lstStyle/>
          <a:p>
            <a:r>
              <a:rPr lang="en-IN" b="1" dirty="0"/>
              <a:t>Challenges &amp; Solutions</a:t>
            </a:r>
            <a:br>
              <a:rPr lang="en-IN" b="1" dirty="0"/>
            </a:br>
            <a:endParaRPr lang="en-IN" dirty="0"/>
          </a:p>
        </p:txBody>
      </p:sp>
    </p:spTree>
    <p:extLst>
      <p:ext uri="{BB962C8B-B14F-4D97-AF65-F5344CB8AC3E}">
        <p14:creationId xmlns:p14="http://schemas.microsoft.com/office/powerpoint/2010/main" val="3043718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E2FC14-D027-0640-9563-A23901E795C4}"/>
              </a:ext>
            </a:extLst>
          </p:cNvPr>
          <p:cNvSpPr>
            <a:spLocks noGrp="1"/>
          </p:cNvSpPr>
          <p:nvPr>
            <p:ph type="title"/>
          </p:nvPr>
        </p:nvSpPr>
        <p:spPr/>
        <p:txBody>
          <a:bodyPr/>
          <a:lstStyle/>
          <a:p>
            <a:r>
              <a:rPr lang="en-IN" b="1" dirty="0"/>
              <a:t>Future Scope</a:t>
            </a:r>
            <a:br>
              <a:rPr lang="en-IN" b="1" dirty="0"/>
            </a:br>
            <a:endParaRPr lang="en-IN" dirty="0"/>
          </a:p>
        </p:txBody>
      </p:sp>
      <p:sp>
        <p:nvSpPr>
          <p:cNvPr id="5" name="TextBox 4">
            <a:extLst>
              <a:ext uri="{FF2B5EF4-FFF2-40B4-BE49-F238E27FC236}">
                <a16:creationId xmlns:a16="http://schemas.microsoft.com/office/drawing/2014/main" xmlns="" id="{E83B306E-E364-4944-9440-4986ECFFBDB0}"/>
              </a:ext>
            </a:extLst>
          </p:cNvPr>
          <p:cNvSpPr txBox="1"/>
          <p:nvPr/>
        </p:nvSpPr>
        <p:spPr>
          <a:xfrm>
            <a:off x="354151" y="2191729"/>
            <a:ext cx="10718858" cy="2554545"/>
          </a:xfrm>
          <a:prstGeom prst="rect">
            <a:avLst/>
          </a:prstGeom>
          <a:noFill/>
        </p:spPr>
        <p:txBody>
          <a:bodyPr wrap="square">
            <a:spAutoFit/>
          </a:bodyPr>
          <a:lstStyle/>
          <a:p>
            <a:pPr marL="342900" indent="-342900">
              <a:buFont typeface="Arial" pitchFamily="34" charset="0"/>
              <a:buChar char="•"/>
            </a:pPr>
            <a:r>
              <a:rPr lang="en-US" sz="2000" dirty="0"/>
              <a:t>Integration of machine learning models to improve price prediction accuracy using real market data</a:t>
            </a:r>
          </a:p>
          <a:p>
            <a:pPr marL="342900" indent="-342900">
              <a:buFont typeface="Arial" pitchFamily="34" charset="0"/>
              <a:buChar char="•"/>
            </a:pPr>
            <a:r>
              <a:rPr lang="en-US" sz="2000" dirty="0"/>
              <a:t>Addition of a backend database to store historical resale prices and user-listed bikes</a:t>
            </a:r>
          </a:p>
          <a:p>
            <a:pPr marL="342900" indent="-342900">
              <a:buFont typeface="Arial" pitchFamily="34" charset="0"/>
              <a:buChar char="•"/>
            </a:pPr>
            <a:r>
              <a:rPr lang="en-US" sz="2000" dirty="0"/>
              <a:t>Real-time price updates by scraping data from online bike selling platforms</a:t>
            </a:r>
          </a:p>
          <a:p>
            <a:pPr marL="342900" indent="-342900">
              <a:buFont typeface="Arial" pitchFamily="34" charset="0"/>
              <a:buChar char="•"/>
            </a:pPr>
            <a:r>
              <a:rPr lang="en-US" sz="2000" dirty="0"/>
              <a:t>User login system to allow buyers and sellers to save, compare, and track bike valuations</a:t>
            </a:r>
          </a:p>
          <a:p>
            <a:pPr marL="342900" indent="-342900">
              <a:buFont typeface="Arial" pitchFamily="34" charset="0"/>
              <a:buChar char="•"/>
            </a:pPr>
            <a:r>
              <a:rPr lang="en-US" sz="2000" dirty="0"/>
              <a:t>Expansion of the platform into a complete marketplace for buying and selling used bikes</a:t>
            </a:r>
          </a:p>
          <a:p>
            <a:pPr marL="342900" indent="-342900">
              <a:buFont typeface="Arial" pitchFamily="34" charset="0"/>
              <a:buChar char="•"/>
            </a:pPr>
            <a:r>
              <a:rPr lang="en-US" sz="2000" dirty="0"/>
              <a:t>Launch of a mobile application with notifications, multilingual support, and location-based services</a:t>
            </a:r>
          </a:p>
        </p:txBody>
      </p:sp>
    </p:spTree>
    <p:extLst>
      <p:ext uri="{BB962C8B-B14F-4D97-AF65-F5344CB8AC3E}">
        <p14:creationId xmlns:p14="http://schemas.microsoft.com/office/powerpoint/2010/main" val="34545944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xmlns="" id="{B6BEE45E-5BC6-FE57-3BE0-58C4167F7CA5}"/>
              </a:ext>
            </a:extLst>
          </p:cNvPr>
          <p:cNvSpPr>
            <a:spLocks noGrp="1" noChangeArrowheads="1"/>
          </p:cNvSpPr>
          <p:nvPr>
            <p:ph idx="1"/>
          </p:nvPr>
        </p:nvSpPr>
        <p:spPr bwMode="auto">
          <a:xfrm>
            <a:off x="608690" y="2305965"/>
            <a:ext cx="10451791" cy="2474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dirty="0"/>
              <a:t>The Used Bike Price Predictor successfully provides a fast and transparent method to estimate the resale value of second-hand motorcycles.</a:t>
            </a:r>
          </a:p>
          <a:p>
            <a:r>
              <a:rPr lang="en-US" sz="1800" dirty="0"/>
              <a:t>By evaluating key parameters such as brand, model year, kilometers driven, number of owners, and city, the system delivers realistic and reliable price predictions.</a:t>
            </a:r>
          </a:p>
          <a:p>
            <a:r>
              <a:rPr lang="en-US" sz="1800" dirty="0"/>
              <a:t>The instant output with factor-wise breakdown helps remove negotiation-based uncertainty and supports fair decision-making for both buyers and sellers.</a:t>
            </a:r>
          </a:p>
          <a:p>
            <a:r>
              <a:rPr lang="en-US" sz="1800" dirty="0"/>
              <a:t>Overall, the project demonstrates how front-end technologies can be used to solve real-world problems and bring confidence and clarity to the used bike market.</a:t>
            </a:r>
          </a:p>
        </p:txBody>
      </p:sp>
      <p:sp>
        <p:nvSpPr>
          <p:cNvPr id="2" name="Title 1">
            <a:extLst>
              <a:ext uri="{FF2B5EF4-FFF2-40B4-BE49-F238E27FC236}">
                <a16:creationId xmlns:a16="http://schemas.microsoft.com/office/drawing/2014/main" xmlns="" id="{E33645BA-512E-DDDF-E2E5-CC18D3A66992}"/>
              </a:ext>
            </a:extLst>
          </p:cNvPr>
          <p:cNvSpPr>
            <a:spLocks noGrp="1"/>
          </p:cNvSpPr>
          <p:nvPr>
            <p:ph type="title"/>
          </p:nvPr>
        </p:nvSpPr>
        <p:spPr/>
        <p:txBody>
          <a:bodyPr/>
          <a:lstStyle/>
          <a:p>
            <a:r>
              <a:rPr lang="en-IN" b="1" dirty="0"/>
              <a:t>Conclusion</a:t>
            </a:r>
            <a:br>
              <a:rPr lang="en-IN" b="1" dirty="0"/>
            </a:br>
            <a:endParaRPr lang="en-IN" dirty="0"/>
          </a:p>
        </p:txBody>
      </p:sp>
    </p:spTree>
    <p:extLst>
      <p:ext uri="{BB962C8B-B14F-4D97-AF65-F5344CB8AC3E}">
        <p14:creationId xmlns:p14="http://schemas.microsoft.com/office/powerpoint/2010/main" val="1874818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C4884EB-C000-A87D-0ADF-4A486D6DB1D4}"/>
              </a:ext>
            </a:extLst>
          </p:cNvPr>
          <p:cNvSpPr>
            <a:spLocks noGrp="1"/>
          </p:cNvSpPr>
          <p:nvPr>
            <p:ph idx="1"/>
          </p:nvPr>
        </p:nvSpPr>
        <p:spPr>
          <a:xfrm>
            <a:off x="3463413" y="2602374"/>
            <a:ext cx="10515600" cy="4351338"/>
          </a:xfrm>
        </p:spPr>
        <p:txBody>
          <a:bodyPr>
            <a:normAutofit/>
          </a:bodyPr>
          <a:lstStyle/>
          <a:p>
            <a:pPr marL="0" indent="0">
              <a:buNone/>
            </a:pPr>
            <a:r>
              <a:rPr lang="en-IN" sz="4800" dirty="0"/>
              <a:t>Thank You!!</a:t>
            </a:r>
          </a:p>
        </p:txBody>
      </p:sp>
      <p:pic>
        <p:nvPicPr>
          <p:cNvPr id="7" name="Graphic 6" descr="Angel face outline with solid fill">
            <a:extLst>
              <a:ext uri="{FF2B5EF4-FFF2-40B4-BE49-F238E27FC236}">
                <a16:creationId xmlns:a16="http://schemas.microsoft.com/office/drawing/2014/main" xmlns="" id="{0B5621E8-2A3D-B6AC-F455-8B6AEA33C8DB}"/>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6799006" y="2496677"/>
            <a:ext cx="914400" cy="914400"/>
          </a:xfrm>
          <a:prstGeom prst="rect">
            <a:avLst/>
          </a:prstGeom>
        </p:spPr>
      </p:pic>
    </p:spTree>
    <p:extLst>
      <p:ext uri="{BB962C8B-B14F-4D97-AF65-F5344CB8AC3E}">
        <p14:creationId xmlns:p14="http://schemas.microsoft.com/office/powerpoint/2010/main" val="173265101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Grid">
  <a:themeElements>
    <a:clrScheme name="Grid">
      <a:dk1>
        <a:sysClr val="windowText" lastClr="000000"/>
      </a:dk1>
      <a:lt1>
        <a:sysClr val="window" lastClr="FFFFFF"/>
      </a:lt1>
      <a:dk2>
        <a:srgbClr val="534949"/>
      </a:dk2>
      <a:lt2>
        <a:srgbClr val="CCD1B9"/>
      </a:lt2>
      <a:accent1>
        <a:srgbClr val="C66951"/>
      </a:accent1>
      <a:accent2>
        <a:srgbClr val="BF974D"/>
      </a:accent2>
      <a:accent3>
        <a:srgbClr val="928B70"/>
      </a:accent3>
      <a:accent4>
        <a:srgbClr val="87706B"/>
      </a:accent4>
      <a:accent5>
        <a:srgbClr val="94734E"/>
      </a:accent5>
      <a:accent6>
        <a:srgbClr val="6F777D"/>
      </a:accent6>
      <a:hlink>
        <a:srgbClr val="CC9900"/>
      </a:hlink>
      <a:folHlink>
        <a:srgbClr val="C0C0C0"/>
      </a:folHlink>
    </a:clrScheme>
    <a:fontScheme name="Grid">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Grid">
      <a:fillStyleLst>
        <a:solidFill>
          <a:schemeClr val="phClr"/>
        </a:solidFill>
        <a:solidFill>
          <a:schemeClr val="phClr">
            <a:tint val="50000"/>
          </a:schemeClr>
        </a:solidFill>
        <a:gradFill rotWithShape="1">
          <a:gsLst>
            <a:gs pos="0">
              <a:schemeClr val="phClr"/>
            </a:gs>
            <a:gs pos="90000">
              <a:schemeClr val="phClr">
                <a:shade val="100000"/>
              </a:schemeClr>
            </a:gs>
            <a:gs pos="100000">
              <a:schemeClr val="phClr">
                <a:shade val="85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effectStyle>
        <a:effectStyle>
          <a:effectLst>
            <a:outerShdw blurRad="31750" dist="25400" dir="5400000" rotWithShape="0">
              <a:srgbClr val="000000">
                <a:alpha val="50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30000"/>
              </a:schemeClr>
            </a:contourClr>
          </a:sp3d>
        </a:effectStyle>
      </a:effectStyleLst>
      <a:bgFillStyleLst>
        <a:solidFill>
          <a:schemeClr val="phClr"/>
        </a:solidFill>
        <a:solidFill>
          <a:schemeClr val="phClr">
            <a:tint val="90000"/>
            <a:shade val="93000"/>
            <a:satMod val="150000"/>
          </a:schemeClr>
        </a:solidFill>
        <a:blipFill rotWithShape="1">
          <a:blip xmlns:r="http://schemas.openxmlformats.org/officeDocument/2006/relationships" r:embed="rId1">
            <a:duotone>
              <a:schemeClr val="phClr">
                <a:tint val="95000"/>
              </a:schemeClr>
              <a:schemeClr val="phClr">
                <a:shade val="93000"/>
                <a:satMod val="11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Grid</Template>
  <TotalTime>62</TotalTime>
  <Words>705</Words>
  <Application>Microsoft Office PowerPoint</Application>
  <PresentationFormat>Custom</PresentationFormat>
  <Paragraphs>80</Paragraphs>
  <Slides>11</Slides>
  <Notes>2</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Grid</vt:lpstr>
      <vt:lpstr>230670L:  Introduction to Programming T.Y. B TECH   Department of E&amp;TC ENGINEERINGS </vt:lpstr>
      <vt:lpstr> Introduction </vt:lpstr>
      <vt:lpstr>Project Objectives </vt:lpstr>
      <vt:lpstr>Key Features </vt:lpstr>
      <vt:lpstr>Project Structure </vt:lpstr>
      <vt:lpstr>Development Workflow </vt:lpstr>
      <vt:lpstr>Project Screenshots </vt:lpstr>
      <vt:lpstr>Challenges &amp; Solutions </vt:lpstr>
      <vt:lpstr>Future Scope </vt:lpstr>
      <vt:lpstr>Conclusion </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230670L:  Introduction to Programming T.Y. B TECH   Department of E&amp;TC ENGINEERINGS </dc:title>
  <dc:creator>Atharva Rajandekar</dc:creator>
  <cp:lastModifiedBy>LENOVO</cp:lastModifiedBy>
  <cp:revision>7</cp:revision>
  <dcterms:created xsi:type="dcterms:W3CDTF">2025-11-28T04:57:01Z</dcterms:created>
  <dcterms:modified xsi:type="dcterms:W3CDTF">2025-11-29T05:45:54Z</dcterms:modified>
</cp:coreProperties>
</file>